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4" r:id="rId9"/>
  </p:sldIdLst>
  <p:sldSz cx="10287000" cy="5384800"/>
  <p:notesSz cx="6858000" cy="9144000"/>
  <p:embeddedFontLst>
    <p:embeddedFont>
      <p:font typeface="Garet" panose="020B0604020202020204" charset="0"/>
      <p:regular r:id="rId11"/>
    </p:embeddedFont>
    <p:embeddedFont>
      <p:font typeface="Garet Bold" panose="020B0604020202020204" charset="0"/>
      <p:regular r:id="rId12"/>
    </p:embeddedFont>
    <p:embeddedFont>
      <p:font typeface="League Spartan" panose="020B0604020202020204" charset="0"/>
      <p:regular r:id="rId13"/>
    </p:embeddedFont>
    <p:embeddedFont>
      <p:font typeface="Montserrat" panose="00000500000000000000" pitchFamily="2" charset="0"/>
      <p:regular r:id="rId14"/>
      <p:bold r:id="rId15"/>
      <p:italic r:id="rId16"/>
      <p:boldItalic r:id="rId17"/>
    </p:embeddedFont>
    <p:embeddedFont>
      <p:font typeface="Montserrat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p:cViewPr varScale="1">
        <p:scale>
          <a:sx n="104" d="100"/>
          <a:sy n="104" d="100"/>
        </p:scale>
        <p:origin x="48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FB267-4FC8-4CBC-99D5-1833FCB5F328}" type="datetimeFigureOut">
              <a:rPr lang="en-IN" smtClean="0"/>
              <a:t>31-12-2025</a:t>
            </a:fld>
            <a:endParaRPr lang="en-IN"/>
          </a:p>
        </p:txBody>
      </p:sp>
      <p:sp>
        <p:nvSpPr>
          <p:cNvPr id="4" name="Slide Image Placeholder 3"/>
          <p:cNvSpPr>
            <a:spLocks noGrp="1" noRot="1" noChangeAspect="1"/>
          </p:cNvSpPr>
          <p:nvPr>
            <p:ph type="sldImg" idx="2"/>
          </p:nvPr>
        </p:nvSpPr>
        <p:spPr>
          <a:xfrm>
            <a:off x="482600" y="1143000"/>
            <a:ext cx="5892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6918CE-3651-4092-868C-B16AF8959DD5}" type="slidenum">
              <a:rPr lang="en-IN" smtClean="0"/>
              <a:t>‹#›</a:t>
            </a:fld>
            <a:endParaRPr lang="en-IN"/>
          </a:p>
        </p:txBody>
      </p:sp>
    </p:spTree>
    <p:extLst>
      <p:ext uri="{BB962C8B-B14F-4D97-AF65-F5344CB8AC3E}">
        <p14:creationId xmlns:p14="http://schemas.microsoft.com/office/powerpoint/2010/main" val="4222842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C6918CE-3651-4092-868C-B16AF8959DD5}" type="slidenum">
              <a:rPr lang="en-IN" smtClean="0"/>
              <a:t>5</a:t>
            </a:fld>
            <a:endParaRPr lang="en-IN"/>
          </a:p>
        </p:txBody>
      </p:sp>
    </p:spTree>
    <p:extLst>
      <p:ext uri="{BB962C8B-B14F-4D97-AF65-F5344CB8AC3E}">
        <p14:creationId xmlns:p14="http://schemas.microsoft.com/office/powerpoint/2010/main" val="1407431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4927473"/>
            <a:ext cx="10287000" cy="463677"/>
            <a:chOff x="0" y="0"/>
            <a:chExt cx="5169753" cy="233022"/>
          </a:xfrm>
        </p:grpSpPr>
        <p:sp>
          <p:nvSpPr>
            <p:cNvPr id="3" name="Freeform 3"/>
            <p:cNvSpPr/>
            <p:nvPr/>
          </p:nvSpPr>
          <p:spPr>
            <a:xfrm>
              <a:off x="0" y="0"/>
              <a:ext cx="5169753" cy="233022"/>
            </a:xfrm>
            <a:custGeom>
              <a:avLst/>
              <a:gdLst/>
              <a:ahLst/>
              <a:cxnLst/>
              <a:rect l="l" t="t" r="r" b="b"/>
              <a:pathLst>
                <a:path w="5169753" h="233022">
                  <a:moveTo>
                    <a:pt x="0" y="0"/>
                  </a:moveTo>
                  <a:lnTo>
                    <a:pt x="5169753" y="0"/>
                  </a:lnTo>
                  <a:lnTo>
                    <a:pt x="5169753" y="233022"/>
                  </a:lnTo>
                  <a:lnTo>
                    <a:pt x="0" y="233022"/>
                  </a:lnTo>
                  <a:close/>
                </a:path>
              </a:pathLst>
            </a:custGeom>
            <a:solidFill>
              <a:srgbClr val="FFFFFF"/>
            </a:solidFill>
          </p:spPr>
        </p:sp>
        <p:sp>
          <p:nvSpPr>
            <p:cNvPr id="4" name="TextBox 4"/>
            <p:cNvSpPr txBox="1"/>
            <p:nvPr/>
          </p:nvSpPr>
          <p:spPr>
            <a:xfrm>
              <a:off x="0" y="-19050"/>
              <a:ext cx="5169753" cy="252072"/>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0"/>
            <a:ext cx="10287000" cy="2539588"/>
            <a:chOff x="0" y="0"/>
            <a:chExt cx="5169753" cy="1276275"/>
          </a:xfrm>
        </p:grpSpPr>
        <p:sp>
          <p:nvSpPr>
            <p:cNvPr id="6" name="Freeform 6"/>
            <p:cNvSpPr/>
            <p:nvPr/>
          </p:nvSpPr>
          <p:spPr>
            <a:xfrm>
              <a:off x="0" y="0"/>
              <a:ext cx="5169753" cy="1276275"/>
            </a:xfrm>
            <a:custGeom>
              <a:avLst/>
              <a:gdLst/>
              <a:ahLst/>
              <a:cxnLst/>
              <a:rect l="l" t="t" r="r" b="b"/>
              <a:pathLst>
                <a:path w="5169753" h="1276275">
                  <a:moveTo>
                    <a:pt x="0" y="0"/>
                  </a:moveTo>
                  <a:lnTo>
                    <a:pt x="5169753" y="0"/>
                  </a:lnTo>
                  <a:lnTo>
                    <a:pt x="5169753" y="1276275"/>
                  </a:lnTo>
                  <a:lnTo>
                    <a:pt x="0" y="1276275"/>
                  </a:lnTo>
                  <a:close/>
                </a:path>
              </a:pathLst>
            </a:custGeom>
            <a:solidFill>
              <a:srgbClr val="FFFFFF"/>
            </a:solidFill>
          </p:spPr>
        </p:sp>
        <p:sp>
          <p:nvSpPr>
            <p:cNvPr id="7" name="TextBox 7"/>
            <p:cNvSpPr txBox="1"/>
            <p:nvPr/>
          </p:nvSpPr>
          <p:spPr>
            <a:xfrm>
              <a:off x="0" y="-19050"/>
              <a:ext cx="5169753" cy="1295325"/>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9100468" y="200532"/>
            <a:ext cx="956040" cy="343825"/>
            <a:chOff x="0" y="0"/>
            <a:chExt cx="1274720" cy="458433"/>
          </a:xfrm>
        </p:grpSpPr>
        <p:sp>
          <p:nvSpPr>
            <p:cNvPr id="9" name="Freeform 9"/>
            <p:cNvSpPr/>
            <p:nvPr/>
          </p:nvSpPr>
          <p:spPr>
            <a:xfrm>
              <a:off x="375415" y="26673"/>
              <a:ext cx="899305" cy="431760"/>
            </a:xfrm>
            <a:custGeom>
              <a:avLst/>
              <a:gdLst/>
              <a:ahLst/>
              <a:cxnLst/>
              <a:rect l="l" t="t" r="r" b="b"/>
              <a:pathLst>
                <a:path w="899305" h="431760">
                  <a:moveTo>
                    <a:pt x="0" y="0"/>
                  </a:moveTo>
                  <a:lnTo>
                    <a:pt x="899305" y="0"/>
                  </a:lnTo>
                  <a:lnTo>
                    <a:pt x="899305" y="431760"/>
                  </a:lnTo>
                  <a:lnTo>
                    <a:pt x="0" y="431760"/>
                  </a:lnTo>
                  <a:lnTo>
                    <a:pt x="0" y="0"/>
                  </a:lnTo>
                  <a:close/>
                </a:path>
              </a:pathLst>
            </a:custGeom>
            <a:blipFill>
              <a:blip r:embed="rId2"/>
              <a:stretch>
                <a:fillRect l="-42914"/>
              </a:stretch>
            </a:blipFill>
          </p:spPr>
        </p:sp>
        <p:sp>
          <p:nvSpPr>
            <p:cNvPr id="10" name="Freeform 10"/>
            <p:cNvSpPr/>
            <p:nvPr/>
          </p:nvSpPr>
          <p:spPr>
            <a:xfrm>
              <a:off x="0" y="0"/>
              <a:ext cx="385934" cy="431760"/>
            </a:xfrm>
            <a:custGeom>
              <a:avLst/>
              <a:gdLst/>
              <a:ahLst/>
              <a:cxnLst/>
              <a:rect l="l" t="t" r="r" b="b"/>
              <a:pathLst>
                <a:path w="385934" h="431760">
                  <a:moveTo>
                    <a:pt x="0" y="0"/>
                  </a:moveTo>
                  <a:lnTo>
                    <a:pt x="385934" y="0"/>
                  </a:lnTo>
                  <a:lnTo>
                    <a:pt x="385934" y="431760"/>
                  </a:lnTo>
                  <a:lnTo>
                    <a:pt x="0" y="431760"/>
                  </a:lnTo>
                  <a:lnTo>
                    <a:pt x="0" y="0"/>
                  </a:lnTo>
                  <a:close/>
                </a:path>
              </a:pathLst>
            </a:custGeom>
            <a:blipFill>
              <a:blip r:embed="rId3"/>
              <a:stretch>
                <a:fillRect r="-233020"/>
              </a:stretch>
            </a:blipFill>
          </p:spPr>
        </p:sp>
      </p:grpSp>
      <p:sp>
        <p:nvSpPr>
          <p:cNvPr id="11" name="Freeform 11"/>
          <p:cNvSpPr/>
          <p:nvPr/>
        </p:nvSpPr>
        <p:spPr>
          <a:xfrm>
            <a:off x="205679" y="196940"/>
            <a:ext cx="1550158" cy="351008"/>
          </a:xfrm>
          <a:custGeom>
            <a:avLst/>
            <a:gdLst/>
            <a:ahLst/>
            <a:cxnLst/>
            <a:rect l="l" t="t" r="r" b="b"/>
            <a:pathLst>
              <a:path w="1550158" h="351008">
                <a:moveTo>
                  <a:pt x="0" y="0"/>
                </a:moveTo>
                <a:lnTo>
                  <a:pt x="1550158" y="0"/>
                </a:lnTo>
                <a:lnTo>
                  <a:pt x="1550158" y="351008"/>
                </a:lnTo>
                <a:lnTo>
                  <a:pt x="0" y="351008"/>
                </a:lnTo>
                <a:lnTo>
                  <a:pt x="0" y="0"/>
                </a:lnTo>
                <a:close/>
              </a:path>
            </a:pathLst>
          </a:custGeom>
          <a:blipFill>
            <a:blip r:embed="rId4"/>
            <a:stretch>
              <a:fillRect t="-30203" b="-35555"/>
            </a:stretch>
          </a:blipFill>
        </p:spPr>
      </p:sp>
      <p:sp>
        <p:nvSpPr>
          <p:cNvPr id="12" name="Freeform 12"/>
          <p:cNvSpPr/>
          <p:nvPr/>
        </p:nvSpPr>
        <p:spPr>
          <a:xfrm>
            <a:off x="7680076" y="139934"/>
            <a:ext cx="721155" cy="471903"/>
          </a:xfrm>
          <a:custGeom>
            <a:avLst/>
            <a:gdLst/>
            <a:ahLst/>
            <a:cxnLst/>
            <a:rect l="l" t="t" r="r" b="b"/>
            <a:pathLst>
              <a:path w="721155" h="471903">
                <a:moveTo>
                  <a:pt x="0" y="0"/>
                </a:moveTo>
                <a:lnTo>
                  <a:pt x="721155" y="0"/>
                </a:lnTo>
                <a:lnTo>
                  <a:pt x="721155" y="471903"/>
                </a:lnTo>
                <a:lnTo>
                  <a:pt x="0" y="471903"/>
                </a:lnTo>
                <a:lnTo>
                  <a:pt x="0" y="0"/>
                </a:lnTo>
                <a:close/>
              </a:path>
            </a:pathLst>
          </a:custGeom>
          <a:blipFill>
            <a:blip r:embed="rId5"/>
            <a:stretch>
              <a:fillRect t="-18481" b="-34337"/>
            </a:stretch>
          </a:blipFill>
        </p:spPr>
      </p:sp>
      <p:sp>
        <p:nvSpPr>
          <p:cNvPr id="13" name="Freeform 13"/>
          <p:cNvSpPr/>
          <p:nvPr/>
        </p:nvSpPr>
        <p:spPr>
          <a:xfrm>
            <a:off x="4031651" y="243629"/>
            <a:ext cx="1117453" cy="285865"/>
          </a:xfrm>
          <a:custGeom>
            <a:avLst/>
            <a:gdLst/>
            <a:ahLst/>
            <a:cxnLst/>
            <a:rect l="l" t="t" r="r" b="b"/>
            <a:pathLst>
              <a:path w="1117453" h="285865">
                <a:moveTo>
                  <a:pt x="0" y="0"/>
                </a:moveTo>
                <a:lnTo>
                  <a:pt x="1117453" y="0"/>
                </a:lnTo>
                <a:lnTo>
                  <a:pt x="1117453" y="285865"/>
                </a:lnTo>
                <a:lnTo>
                  <a:pt x="0" y="285865"/>
                </a:lnTo>
                <a:lnTo>
                  <a:pt x="0" y="0"/>
                </a:lnTo>
                <a:close/>
              </a:path>
            </a:pathLst>
          </a:custGeom>
          <a:blipFill>
            <a:blip r:embed="rId6"/>
            <a:stretch>
              <a:fillRect t="-13850"/>
            </a:stretch>
          </a:blipFill>
        </p:spPr>
      </p:sp>
      <p:sp>
        <p:nvSpPr>
          <p:cNvPr id="14" name="Freeform 14"/>
          <p:cNvSpPr/>
          <p:nvPr/>
        </p:nvSpPr>
        <p:spPr>
          <a:xfrm>
            <a:off x="2343143" y="203822"/>
            <a:ext cx="1101202" cy="344126"/>
          </a:xfrm>
          <a:custGeom>
            <a:avLst/>
            <a:gdLst/>
            <a:ahLst/>
            <a:cxnLst/>
            <a:rect l="l" t="t" r="r" b="b"/>
            <a:pathLst>
              <a:path w="1101202" h="344126">
                <a:moveTo>
                  <a:pt x="0" y="0"/>
                </a:moveTo>
                <a:lnTo>
                  <a:pt x="1101202" y="0"/>
                </a:lnTo>
                <a:lnTo>
                  <a:pt x="1101202" y="344126"/>
                </a:lnTo>
                <a:lnTo>
                  <a:pt x="0" y="344126"/>
                </a:lnTo>
                <a:lnTo>
                  <a:pt x="0" y="0"/>
                </a:lnTo>
                <a:close/>
              </a:path>
            </a:pathLst>
          </a:custGeom>
          <a:blipFill>
            <a:blip r:embed="rId7"/>
            <a:stretch>
              <a:fillRect/>
            </a:stretch>
          </a:blipFill>
        </p:spPr>
      </p:sp>
      <p:grpSp>
        <p:nvGrpSpPr>
          <p:cNvPr id="15" name="Group 15"/>
          <p:cNvGrpSpPr/>
          <p:nvPr/>
        </p:nvGrpSpPr>
        <p:grpSpPr>
          <a:xfrm>
            <a:off x="5736410" y="210678"/>
            <a:ext cx="1356360" cy="289549"/>
            <a:chOff x="0" y="0"/>
            <a:chExt cx="1808480" cy="386065"/>
          </a:xfrm>
        </p:grpSpPr>
        <p:sp>
          <p:nvSpPr>
            <p:cNvPr id="16" name="Freeform 16"/>
            <p:cNvSpPr/>
            <p:nvPr/>
          </p:nvSpPr>
          <p:spPr>
            <a:xfrm>
              <a:off x="1371321" y="0"/>
              <a:ext cx="437159" cy="386065"/>
            </a:xfrm>
            <a:custGeom>
              <a:avLst/>
              <a:gdLst/>
              <a:ahLst/>
              <a:cxnLst/>
              <a:rect l="l" t="t" r="r" b="b"/>
              <a:pathLst>
                <a:path w="437159" h="386065">
                  <a:moveTo>
                    <a:pt x="0" y="0"/>
                  </a:moveTo>
                  <a:lnTo>
                    <a:pt x="437159" y="0"/>
                  </a:lnTo>
                  <a:lnTo>
                    <a:pt x="437159" y="386065"/>
                  </a:lnTo>
                  <a:lnTo>
                    <a:pt x="0" y="386065"/>
                  </a:lnTo>
                  <a:lnTo>
                    <a:pt x="0" y="0"/>
                  </a:lnTo>
                  <a:close/>
                </a:path>
              </a:pathLst>
            </a:custGeom>
            <a:blipFill>
              <a:blip r:embed="rId8"/>
              <a:stretch>
                <a:fillRect b="-10438"/>
              </a:stretch>
            </a:blipFill>
          </p:spPr>
        </p:sp>
        <p:sp>
          <p:nvSpPr>
            <p:cNvPr id="17" name="TextBox 17"/>
            <p:cNvSpPr txBox="1"/>
            <p:nvPr/>
          </p:nvSpPr>
          <p:spPr>
            <a:xfrm>
              <a:off x="0" y="111175"/>
              <a:ext cx="1400755" cy="168959"/>
            </a:xfrm>
            <a:prstGeom prst="rect">
              <a:avLst/>
            </a:prstGeom>
          </p:spPr>
          <p:txBody>
            <a:bodyPr lIns="0" tIns="0" rIns="0" bIns="0" rtlCol="0" anchor="t">
              <a:spAutoFit/>
            </a:bodyPr>
            <a:lstStyle/>
            <a:p>
              <a:pPr algn="r">
                <a:lnSpc>
                  <a:spcPts val="1099"/>
                </a:lnSpc>
                <a:spcBef>
                  <a:spcPct val="0"/>
                </a:spcBef>
              </a:pPr>
              <a:r>
                <a:rPr lang="en-US" sz="785">
                  <a:solidFill>
                    <a:srgbClr val="000000"/>
                  </a:solidFill>
                  <a:latin typeface="League Spartan"/>
                  <a:ea typeface="League Spartan"/>
                  <a:cs typeface="League Spartan"/>
                  <a:sym typeface="League Spartan"/>
                </a:rPr>
                <a:t>IETE Student Forum</a:t>
              </a:r>
            </a:p>
          </p:txBody>
        </p:sp>
        <p:sp>
          <p:nvSpPr>
            <p:cNvPr id="18" name="TextBox 18"/>
            <p:cNvSpPr txBox="1"/>
            <p:nvPr/>
          </p:nvSpPr>
          <p:spPr>
            <a:xfrm>
              <a:off x="118941" y="276210"/>
              <a:ext cx="1227269" cy="102280"/>
            </a:xfrm>
            <a:prstGeom prst="rect">
              <a:avLst/>
            </a:prstGeom>
          </p:spPr>
          <p:txBody>
            <a:bodyPr lIns="0" tIns="0" rIns="0" bIns="0" rtlCol="0" anchor="t">
              <a:spAutoFit/>
            </a:bodyPr>
            <a:lstStyle/>
            <a:p>
              <a:pPr algn="r">
                <a:lnSpc>
                  <a:spcPts val="607"/>
                </a:lnSpc>
                <a:spcBef>
                  <a:spcPct val="0"/>
                </a:spcBef>
              </a:pPr>
              <a:r>
                <a:rPr lang="en-US" sz="433">
                  <a:solidFill>
                    <a:srgbClr val="FF914D"/>
                  </a:solidFill>
                  <a:latin typeface="League Spartan"/>
                  <a:ea typeface="League Spartan"/>
                  <a:cs typeface="League Spartan"/>
                  <a:sym typeface="League Spartan"/>
                </a:rPr>
                <a:t>Amrita Vishwa Vidyapeetham</a:t>
              </a:r>
            </a:p>
          </p:txBody>
        </p:sp>
      </p:grpSp>
      <p:sp>
        <p:nvSpPr>
          <p:cNvPr id="19" name="Freeform 19"/>
          <p:cNvSpPr/>
          <p:nvPr/>
        </p:nvSpPr>
        <p:spPr>
          <a:xfrm>
            <a:off x="235177" y="834078"/>
            <a:ext cx="1671851" cy="1671851"/>
          </a:xfrm>
          <a:custGeom>
            <a:avLst/>
            <a:gdLst/>
            <a:ahLst/>
            <a:cxnLst/>
            <a:rect l="l" t="t" r="r" b="b"/>
            <a:pathLst>
              <a:path w="1671851" h="1671851">
                <a:moveTo>
                  <a:pt x="0" y="0"/>
                </a:moveTo>
                <a:lnTo>
                  <a:pt x="1671851" y="0"/>
                </a:lnTo>
                <a:lnTo>
                  <a:pt x="1671851" y="1671851"/>
                </a:lnTo>
                <a:lnTo>
                  <a:pt x="0" y="1671851"/>
                </a:lnTo>
                <a:lnTo>
                  <a:pt x="0" y="0"/>
                </a:lnTo>
                <a:close/>
              </a:path>
            </a:pathLst>
          </a:custGeom>
          <a:blipFill>
            <a:blip r:embed="rId9"/>
            <a:stretch>
              <a:fillRect/>
            </a:stretch>
          </a:blipFill>
        </p:spPr>
      </p:sp>
      <p:sp>
        <p:nvSpPr>
          <p:cNvPr id="20" name="Freeform 20"/>
          <p:cNvSpPr/>
          <p:nvPr/>
        </p:nvSpPr>
        <p:spPr>
          <a:xfrm>
            <a:off x="1996179" y="834078"/>
            <a:ext cx="4418411" cy="1548871"/>
          </a:xfrm>
          <a:custGeom>
            <a:avLst/>
            <a:gdLst/>
            <a:ahLst/>
            <a:cxnLst/>
            <a:rect l="l" t="t" r="r" b="b"/>
            <a:pathLst>
              <a:path w="4418411" h="1548871">
                <a:moveTo>
                  <a:pt x="0" y="0"/>
                </a:moveTo>
                <a:lnTo>
                  <a:pt x="4418411" y="0"/>
                </a:lnTo>
                <a:lnTo>
                  <a:pt x="4418411" y="1548870"/>
                </a:lnTo>
                <a:lnTo>
                  <a:pt x="0" y="1548870"/>
                </a:lnTo>
                <a:lnTo>
                  <a:pt x="0" y="0"/>
                </a:lnTo>
                <a:close/>
              </a:path>
            </a:pathLst>
          </a:custGeom>
          <a:blipFill>
            <a:blip r:embed="rId10"/>
            <a:stretch>
              <a:fillRect l="-5164"/>
            </a:stretch>
          </a:blipFill>
        </p:spPr>
      </p:sp>
      <p:sp>
        <p:nvSpPr>
          <p:cNvPr id="21" name="TextBox 21"/>
          <p:cNvSpPr txBox="1"/>
          <p:nvPr/>
        </p:nvSpPr>
        <p:spPr>
          <a:xfrm>
            <a:off x="539114" y="3490309"/>
            <a:ext cx="9023985" cy="356572"/>
          </a:xfrm>
          <a:prstGeom prst="rect">
            <a:avLst/>
          </a:prstGeom>
        </p:spPr>
        <p:txBody>
          <a:bodyPr wrap="square" lIns="0" tIns="0" rIns="0" bIns="0" rtlCol="0" anchor="t">
            <a:spAutoFit/>
          </a:bodyPr>
          <a:lstStyle/>
          <a:p>
            <a:pPr algn="l">
              <a:lnSpc>
                <a:spcPts val="3008"/>
              </a:lnSpc>
            </a:pPr>
            <a:r>
              <a:rPr lang="en-US" sz="2148" dirty="0">
                <a:solidFill>
                  <a:srgbClr val="FFFFFF"/>
                </a:solidFill>
                <a:latin typeface="Montserrat"/>
                <a:ea typeface="Montserrat"/>
                <a:cs typeface="Montserrat"/>
                <a:sym typeface="Montserrat"/>
              </a:rPr>
              <a:t>Team Leader Name : A Sricharan  </a:t>
            </a:r>
          </a:p>
        </p:txBody>
      </p:sp>
      <p:sp>
        <p:nvSpPr>
          <p:cNvPr id="22" name="TextBox 22"/>
          <p:cNvSpPr txBox="1"/>
          <p:nvPr/>
        </p:nvSpPr>
        <p:spPr>
          <a:xfrm>
            <a:off x="539115" y="3016074"/>
            <a:ext cx="5442585" cy="356572"/>
          </a:xfrm>
          <a:prstGeom prst="rect">
            <a:avLst/>
          </a:prstGeom>
        </p:spPr>
        <p:txBody>
          <a:bodyPr wrap="square" lIns="0" tIns="0" rIns="0" bIns="0" rtlCol="0" anchor="t">
            <a:spAutoFit/>
          </a:bodyPr>
          <a:lstStyle/>
          <a:p>
            <a:pPr algn="l">
              <a:lnSpc>
                <a:spcPts val="3008"/>
              </a:lnSpc>
            </a:pPr>
            <a:r>
              <a:rPr lang="en-US" sz="2148" dirty="0">
                <a:solidFill>
                  <a:srgbClr val="FFFFFF"/>
                </a:solidFill>
                <a:latin typeface="Montserrat"/>
                <a:ea typeface="Montserrat"/>
                <a:cs typeface="Montserrat"/>
                <a:sym typeface="Montserrat"/>
              </a:rPr>
              <a:t>Team Name : ESP Rockers </a:t>
            </a:r>
          </a:p>
        </p:txBody>
      </p:sp>
      <p:sp>
        <p:nvSpPr>
          <p:cNvPr id="23" name="TextBox 23"/>
          <p:cNvSpPr txBox="1"/>
          <p:nvPr/>
        </p:nvSpPr>
        <p:spPr>
          <a:xfrm>
            <a:off x="539115" y="3964103"/>
            <a:ext cx="5823585" cy="356572"/>
          </a:xfrm>
          <a:prstGeom prst="rect">
            <a:avLst/>
          </a:prstGeom>
        </p:spPr>
        <p:txBody>
          <a:bodyPr wrap="square" lIns="0" tIns="0" rIns="0" bIns="0" rtlCol="0" anchor="t">
            <a:spAutoFit/>
          </a:bodyPr>
          <a:lstStyle/>
          <a:p>
            <a:pPr algn="l">
              <a:lnSpc>
                <a:spcPts val="3008"/>
              </a:lnSpc>
            </a:pPr>
            <a:r>
              <a:rPr lang="en-US" sz="2148" dirty="0">
                <a:solidFill>
                  <a:srgbClr val="FFFFFF"/>
                </a:solidFill>
                <a:latin typeface="Montserrat"/>
                <a:ea typeface="Montserrat"/>
                <a:cs typeface="Montserrat"/>
                <a:sym typeface="Montserrat"/>
              </a:rPr>
              <a:t>Track : </a:t>
            </a:r>
            <a:r>
              <a:rPr lang="en-US" sz="2148" dirty="0" err="1">
                <a:solidFill>
                  <a:srgbClr val="FFFFFF"/>
                </a:solidFill>
                <a:latin typeface="Montserrat"/>
                <a:ea typeface="Montserrat"/>
                <a:cs typeface="Montserrat"/>
                <a:sym typeface="Montserrat"/>
              </a:rPr>
              <a:t>AIoT</a:t>
            </a:r>
            <a:r>
              <a:rPr lang="en-US" sz="2148" dirty="0">
                <a:solidFill>
                  <a:srgbClr val="FFFFFF"/>
                </a:solidFill>
                <a:latin typeface="Montserrat"/>
                <a:ea typeface="Montserrat"/>
                <a:cs typeface="Montserrat"/>
                <a:sym typeface="Montserrat"/>
              </a:rPr>
              <a:t> (AI + IoT)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sp>
      </p:grpSp>
      <p:sp>
        <p:nvSpPr>
          <p:cNvPr id="11" name="TextBox 11"/>
          <p:cNvSpPr txBox="1"/>
          <p:nvPr/>
        </p:nvSpPr>
        <p:spPr>
          <a:xfrm>
            <a:off x="539115" y="973283"/>
            <a:ext cx="3363959" cy="395814"/>
          </a:xfrm>
          <a:prstGeom prst="rect">
            <a:avLst/>
          </a:prstGeom>
        </p:spPr>
        <p:txBody>
          <a:bodyPr wrap="square" lIns="0" tIns="0" rIns="0" bIns="0" rtlCol="0" anchor="t">
            <a:spAutoFit/>
          </a:bodyPr>
          <a:lstStyle/>
          <a:p>
            <a:pPr algn="just">
              <a:lnSpc>
                <a:spcPts val="3203"/>
              </a:lnSpc>
            </a:pPr>
            <a:r>
              <a:rPr lang="en-US" sz="2288" b="1" dirty="0">
                <a:solidFill>
                  <a:srgbClr val="000000"/>
                </a:solidFill>
                <a:latin typeface="Garet"/>
                <a:ea typeface="Garet"/>
                <a:cs typeface="Garet"/>
                <a:sym typeface="Garet"/>
              </a:rPr>
              <a:t>Brief about the Idea</a:t>
            </a:r>
          </a:p>
        </p:txBody>
      </p:sp>
      <p:sp>
        <p:nvSpPr>
          <p:cNvPr id="12" name="TextBox 11">
            <a:extLst>
              <a:ext uri="{FF2B5EF4-FFF2-40B4-BE49-F238E27FC236}">
                <a16:creationId xmlns:a16="http://schemas.microsoft.com/office/drawing/2014/main" id="{B9B6B2A1-B8B9-302A-83EC-43CBF812CFFD}"/>
              </a:ext>
            </a:extLst>
          </p:cNvPr>
          <p:cNvSpPr txBox="1"/>
          <p:nvPr/>
        </p:nvSpPr>
        <p:spPr>
          <a:xfrm>
            <a:off x="481163" y="1701912"/>
            <a:ext cx="9324673" cy="2246769"/>
          </a:xfrm>
          <a:prstGeom prst="rect">
            <a:avLst/>
          </a:prstGeom>
          <a:noFill/>
        </p:spPr>
        <p:txBody>
          <a:bodyPr wrap="square" rtlCol="0">
            <a:spAutoFit/>
          </a:bodyPr>
          <a:lstStyle/>
          <a:p>
            <a:r>
              <a:rPr lang="en-US" sz="2000" dirty="0">
                <a:latin typeface="Garet" panose="020B0604020202020204" charset="0"/>
              </a:rPr>
              <a:t>This project aims to monitor an infant’s safety and comfort using an intelligent cradle system. It uses sensors to detect abnormal cradle movements, adverse environmental conditions, and infant crying. The ESP32 processes sensor data and triggers alerts via Wi-Fi using cloud services. The goal is to reduce risks like overheating, </a:t>
            </a:r>
            <a:r>
              <a:rPr lang="en-US" sz="2000" dirty="0" err="1">
                <a:latin typeface="Garet" panose="020B0604020202020204" charset="0"/>
              </a:rPr>
              <a:t>overrocking</a:t>
            </a:r>
            <a:r>
              <a:rPr lang="en-US" sz="2000" dirty="0">
                <a:latin typeface="Garet" panose="020B0604020202020204" charset="0"/>
              </a:rPr>
              <a:t>, and unattended crying, thereby ensuring safer childcare.</a:t>
            </a:r>
            <a:endParaRPr lang="en-IN" sz="2000" dirty="0">
              <a:latin typeface="Garet"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sp>
      </p:grpSp>
      <p:sp>
        <p:nvSpPr>
          <p:cNvPr id="11" name="TextBox 11"/>
          <p:cNvSpPr txBox="1"/>
          <p:nvPr/>
        </p:nvSpPr>
        <p:spPr>
          <a:xfrm>
            <a:off x="266700" y="847761"/>
            <a:ext cx="9829800" cy="3844001"/>
          </a:xfrm>
          <a:prstGeom prst="rect">
            <a:avLst/>
          </a:prstGeom>
        </p:spPr>
        <p:txBody>
          <a:bodyPr wrap="square" lIns="0" tIns="0" rIns="0" bIns="0" rtlCol="0" anchor="t">
            <a:spAutoFit/>
          </a:bodyPr>
          <a:lstStyle/>
          <a:p>
            <a:pPr algn="just">
              <a:lnSpc>
                <a:spcPts val="3203"/>
              </a:lnSpc>
            </a:pPr>
            <a:r>
              <a:rPr lang="en-US" sz="2288" b="1" dirty="0">
                <a:solidFill>
                  <a:srgbClr val="000000"/>
                </a:solidFill>
                <a:latin typeface="Garet"/>
                <a:ea typeface="Garet"/>
                <a:cs typeface="Garet"/>
                <a:sym typeface="Garet"/>
              </a:rPr>
              <a:t>Opportunity</a:t>
            </a:r>
          </a:p>
          <a:p>
            <a:pPr marL="171450" indent="-171450">
              <a:lnSpc>
                <a:spcPct val="150000"/>
              </a:lnSpc>
              <a:buFont typeface="Arial" panose="020B0604020202020204" pitchFamily="34" charset="0"/>
              <a:buChar char="•"/>
            </a:pPr>
            <a:r>
              <a:rPr lang="en-US" sz="1500" dirty="0">
                <a:solidFill>
                  <a:srgbClr val="000000"/>
                </a:solidFill>
                <a:latin typeface="Garet"/>
                <a:ea typeface="Garet"/>
                <a:cs typeface="Garet"/>
                <a:sym typeface="Garet"/>
              </a:rPr>
              <a:t>Traditional baby monitors rely mainly on cameras and basic alarms and often generate false alerts.</a:t>
            </a:r>
          </a:p>
          <a:p>
            <a:pPr marL="171450" indent="-171450">
              <a:lnSpc>
                <a:spcPct val="150000"/>
              </a:lnSpc>
              <a:buFont typeface="Arial" panose="020B0604020202020204" pitchFamily="34" charset="0"/>
              <a:buChar char="•"/>
            </a:pPr>
            <a:r>
              <a:rPr lang="en-US" sz="1500" dirty="0">
                <a:solidFill>
                  <a:srgbClr val="000000"/>
                </a:solidFill>
                <a:latin typeface="Garet"/>
                <a:ea typeface="Garet"/>
                <a:cs typeface="Garet"/>
                <a:sym typeface="Garet"/>
              </a:rPr>
              <a:t>Our system is different as it uses TF lite on ESP32 to intelligently classify infant crying and unsafe cradle movement, understanding real danger situations instead of reacting to raw sensor values.</a:t>
            </a:r>
          </a:p>
          <a:p>
            <a:pPr marL="171450" indent="-171450">
              <a:lnSpc>
                <a:spcPct val="150000"/>
              </a:lnSpc>
              <a:buFont typeface="Arial" panose="020B0604020202020204" pitchFamily="34" charset="0"/>
              <a:buChar char="•"/>
            </a:pPr>
            <a:r>
              <a:rPr lang="en-US" sz="1500" dirty="0">
                <a:solidFill>
                  <a:srgbClr val="000000"/>
                </a:solidFill>
                <a:latin typeface="Garet"/>
                <a:ea typeface="Garet"/>
                <a:cs typeface="Garet"/>
                <a:sym typeface="Garet"/>
              </a:rPr>
              <a:t>The system continuously monitors motion, sound and room conditions, locally detects continuous crying, unsafe rocking/tilt and unsafe temperature or humidity, and instantly updates a React-based live web dashboard, enabling caregivers to respond quickly even from remote locations.</a:t>
            </a:r>
          </a:p>
          <a:p>
            <a:pPr marL="171450" indent="-171450">
              <a:lnSpc>
                <a:spcPct val="150000"/>
              </a:lnSpc>
              <a:buFont typeface="Arial" panose="020B0604020202020204" pitchFamily="34" charset="0"/>
              <a:buChar char="•"/>
            </a:pPr>
            <a:r>
              <a:rPr lang="en-US" sz="1500" dirty="0">
                <a:solidFill>
                  <a:srgbClr val="000000"/>
                </a:solidFill>
                <a:latin typeface="Garet"/>
                <a:ea typeface="Garet"/>
                <a:cs typeface="Garet"/>
                <a:sym typeface="Garet"/>
              </a:rPr>
              <a:t>The USP of this solution is its on-device AI powered real-time risk detection, reduced false alarms, ability to work with limited internet connectivity and a full-stack live monitoring dashboard — making it an autonomous child safety intelligence system rather than just a monitor.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sp>
      </p:grpSp>
      <p:sp>
        <p:nvSpPr>
          <p:cNvPr id="11" name="TextBox 11"/>
          <p:cNvSpPr txBox="1"/>
          <p:nvPr/>
        </p:nvSpPr>
        <p:spPr>
          <a:xfrm>
            <a:off x="539114" y="973283"/>
            <a:ext cx="9252586" cy="3249608"/>
          </a:xfrm>
          <a:prstGeom prst="rect">
            <a:avLst/>
          </a:prstGeom>
        </p:spPr>
        <p:txBody>
          <a:bodyPr wrap="square" lIns="0" tIns="0" rIns="0" bIns="0" rtlCol="0" anchor="t">
            <a:spAutoFit/>
          </a:bodyPr>
          <a:lstStyle/>
          <a:p>
            <a:pPr algn="just">
              <a:lnSpc>
                <a:spcPts val="3203"/>
              </a:lnSpc>
            </a:pPr>
            <a:r>
              <a:rPr lang="en-US" sz="2288" b="1" dirty="0">
                <a:solidFill>
                  <a:srgbClr val="000000"/>
                </a:solidFill>
                <a:latin typeface="Garet"/>
                <a:ea typeface="Garet"/>
                <a:cs typeface="Garet"/>
                <a:sym typeface="Garet"/>
              </a:rPr>
              <a:t>List of features offered by the solution</a:t>
            </a:r>
          </a:p>
          <a:p>
            <a:pPr marL="285750" indent="-285750">
              <a:lnSpc>
                <a:spcPts val="3203"/>
              </a:lnSpc>
              <a:buFont typeface="Arial" panose="020B0604020202020204" pitchFamily="34" charset="0"/>
              <a:buChar char="•"/>
            </a:pPr>
            <a:r>
              <a:rPr lang="en-US" sz="1900" dirty="0">
                <a:solidFill>
                  <a:srgbClr val="000000"/>
                </a:solidFill>
                <a:latin typeface="Garet"/>
                <a:ea typeface="Garet"/>
                <a:cs typeface="Garet"/>
                <a:sym typeface="Garet"/>
              </a:rPr>
              <a:t>Real-time infant cry detection using TF Lite on ESP32</a:t>
            </a:r>
          </a:p>
          <a:p>
            <a:pPr marL="285750" indent="-285750">
              <a:lnSpc>
                <a:spcPts val="3203"/>
              </a:lnSpc>
              <a:buFont typeface="Arial" panose="020B0604020202020204" pitchFamily="34" charset="0"/>
              <a:buChar char="•"/>
            </a:pPr>
            <a:r>
              <a:rPr lang="en-US" sz="1900" dirty="0">
                <a:solidFill>
                  <a:srgbClr val="000000"/>
                </a:solidFill>
                <a:latin typeface="Garet"/>
                <a:ea typeface="Garet"/>
                <a:cs typeface="Garet"/>
                <a:sym typeface="Garet"/>
              </a:rPr>
              <a:t>Unsafe cradle movement (Abrupt shaking and tilt anomaly)</a:t>
            </a:r>
          </a:p>
          <a:p>
            <a:pPr marL="285750" indent="-285750">
              <a:lnSpc>
                <a:spcPts val="3203"/>
              </a:lnSpc>
              <a:buFont typeface="Arial" panose="020B0604020202020204" pitchFamily="34" charset="0"/>
              <a:buChar char="•"/>
            </a:pPr>
            <a:r>
              <a:rPr lang="en-US" sz="1900" dirty="0">
                <a:solidFill>
                  <a:srgbClr val="000000"/>
                </a:solidFill>
                <a:latin typeface="Garet"/>
                <a:ea typeface="Garet"/>
                <a:cs typeface="Garet"/>
                <a:sym typeface="Garet"/>
              </a:rPr>
              <a:t>Continuous temperature and humidity monitoring</a:t>
            </a:r>
          </a:p>
          <a:p>
            <a:pPr marL="285750" indent="-285750">
              <a:lnSpc>
                <a:spcPts val="3203"/>
              </a:lnSpc>
              <a:buFont typeface="Arial" panose="020B0604020202020204" pitchFamily="34" charset="0"/>
              <a:buChar char="•"/>
            </a:pPr>
            <a:r>
              <a:rPr lang="en-US" sz="1900" dirty="0">
                <a:solidFill>
                  <a:srgbClr val="000000"/>
                </a:solidFill>
                <a:latin typeface="Garet"/>
                <a:ea typeface="Garet"/>
                <a:cs typeface="Garet"/>
                <a:sym typeface="Garet"/>
              </a:rPr>
              <a:t>On-device AI based decision making and local LED alert system</a:t>
            </a:r>
          </a:p>
          <a:p>
            <a:pPr marL="285750" indent="-285750">
              <a:lnSpc>
                <a:spcPts val="3203"/>
              </a:lnSpc>
              <a:buFont typeface="Arial" panose="020B0604020202020204" pitchFamily="34" charset="0"/>
              <a:buChar char="•"/>
            </a:pPr>
            <a:r>
              <a:rPr lang="en-US" sz="1900" dirty="0">
                <a:solidFill>
                  <a:srgbClr val="000000"/>
                </a:solidFill>
                <a:latin typeface="Garet"/>
                <a:ea typeface="Garet"/>
                <a:cs typeface="Garet"/>
                <a:sym typeface="Garet"/>
              </a:rPr>
              <a:t>Instant web notifications and Live cradle status monitoring through React dashboard</a:t>
            </a:r>
          </a:p>
          <a:p>
            <a:pPr marL="285750" indent="-285750">
              <a:lnSpc>
                <a:spcPts val="3203"/>
              </a:lnSpc>
              <a:buFont typeface="Arial" panose="020B0604020202020204" pitchFamily="34" charset="0"/>
              <a:buChar char="•"/>
            </a:pPr>
            <a:r>
              <a:rPr lang="en-US" sz="1900" dirty="0">
                <a:solidFill>
                  <a:srgbClr val="000000"/>
                </a:solidFill>
                <a:latin typeface="Garet"/>
                <a:ea typeface="Garet"/>
                <a:cs typeface="Garet"/>
                <a:sym typeface="Garet"/>
              </a:rPr>
              <a:t>Remote access from any device with internet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3"/>
              <a:stretch>
                <a:fillRect r="-9338"/>
              </a:stretch>
            </a:blipFill>
          </p:spPr>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4"/>
              <a:stretch>
                <a:fillRect l="-5490"/>
              </a:stretch>
            </a:blipFill>
          </p:spPr>
        </p:sp>
      </p:grpSp>
      <p:sp>
        <p:nvSpPr>
          <p:cNvPr id="11" name="TextBox 11"/>
          <p:cNvSpPr txBox="1"/>
          <p:nvPr/>
        </p:nvSpPr>
        <p:spPr>
          <a:xfrm>
            <a:off x="539114" y="973283"/>
            <a:ext cx="6509385" cy="395814"/>
          </a:xfrm>
          <a:prstGeom prst="rect">
            <a:avLst/>
          </a:prstGeom>
        </p:spPr>
        <p:txBody>
          <a:bodyPr wrap="square" lIns="0" tIns="0" rIns="0" bIns="0" rtlCol="0" anchor="t">
            <a:spAutoFit/>
          </a:bodyPr>
          <a:lstStyle/>
          <a:p>
            <a:pPr algn="just">
              <a:lnSpc>
                <a:spcPts val="3203"/>
              </a:lnSpc>
            </a:pPr>
            <a:r>
              <a:rPr lang="en-US" sz="2288" dirty="0">
                <a:solidFill>
                  <a:srgbClr val="000000"/>
                </a:solidFill>
                <a:latin typeface="Garet"/>
                <a:ea typeface="Garet"/>
                <a:cs typeface="Garet"/>
                <a:sym typeface="Garet"/>
              </a:rPr>
              <a:t>Process flow diagram or use-case diagram</a:t>
            </a:r>
          </a:p>
        </p:txBody>
      </p:sp>
      <p:pic>
        <p:nvPicPr>
          <p:cNvPr id="13" name="Picture 12">
            <a:extLst>
              <a:ext uri="{FF2B5EF4-FFF2-40B4-BE49-F238E27FC236}">
                <a16:creationId xmlns:a16="http://schemas.microsoft.com/office/drawing/2014/main" id="{56BF6015-51A2-89CF-F025-99E5723AEA9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1398964"/>
            <a:ext cx="10287000" cy="34308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sp>
      </p:grpSp>
      <p:sp>
        <p:nvSpPr>
          <p:cNvPr id="11" name="TextBox 11"/>
          <p:cNvSpPr txBox="1"/>
          <p:nvPr/>
        </p:nvSpPr>
        <p:spPr>
          <a:xfrm>
            <a:off x="266700" y="787400"/>
            <a:ext cx="9938385" cy="395814"/>
          </a:xfrm>
          <a:prstGeom prst="rect">
            <a:avLst/>
          </a:prstGeom>
        </p:spPr>
        <p:txBody>
          <a:bodyPr wrap="square" lIns="0" tIns="0" rIns="0" bIns="0" rtlCol="0" anchor="t">
            <a:spAutoFit/>
          </a:bodyPr>
          <a:lstStyle/>
          <a:p>
            <a:pPr algn="l">
              <a:lnSpc>
                <a:spcPts val="3203"/>
              </a:lnSpc>
            </a:pPr>
            <a:r>
              <a:rPr lang="en-US" sz="2288" dirty="0">
                <a:solidFill>
                  <a:srgbClr val="000000"/>
                </a:solidFill>
                <a:latin typeface="Garet"/>
                <a:ea typeface="Garet"/>
                <a:cs typeface="Garet"/>
                <a:sym typeface="Garet"/>
              </a:rPr>
              <a:t>AI Technologies to be used in the solution (or required </a:t>
            </a:r>
            <a:r>
              <a:rPr lang="en-US" sz="2288" dirty="0" err="1">
                <a:solidFill>
                  <a:srgbClr val="000000"/>
                </a:solidFill>
                <a:latin typeface="Garet"/>
                <a:ea typeface="Garet"/>
                <a:cs typeface="Garet"/>
                <a:sym typeface="Garet"/>
              </a:rPr>
              <a:t>Hardwares</a:t>
            </a:r>
            <a:r>
              <a:rPr lang="en-US" sz="2288" dirty="0">
                <a:solidFill>
                  <a:srgbClr val="000000"/>
                </a:solidFill>
                <a:latin typeface="Garet"/>
                <a:ea typeface="Garet"/>
                <a:cs typeface="Garet"/>
                <a:sym typeface="Garet"/>
              </a:rPr>
              <a:t>)</a:t>
            </a:r>
          </a:p>
        </p:txBody>
      </p:sp>
      <p:graphicFrame>
        <p:nvGraphicFramePr>
          <p:cNvPr id="12" name="Table 11">
            <a:extLst>
              <a:ext uri="{FF2B5EF4-FFF2-40B4-BE49-F238E27FC236}">
                <a16:creationId xmlns:a16="http://schemas.microsoft.com/office/drawing/2014/main" id="{3E493545-4CDD-9F06-AE6B-A0A34A0C7A77}"/>
              </a:ext>
            </a:extLst>
          </p:cNvPr>
          <p:cNvGraphicFramePr>
            <a:graphicFrameLocks noGrp="1"/>
          </p:cNvGraphicFramePr>
          <p:nvPr>
            <p:extLst>
              <p:ext uri="{D42A27DB-BD31-4B8C-83A1-F6EECF244321}">
                <p14:modId xmlns:p14="http://schemas.microsoft.com/office/powerpoint/2010/main" val="1549023084"/>
              </p:ext>
            </p:extLst>
          </p:nvPr>
        </p:nvGraphicFramePr>
        <p:xfrm>
          <a:off x="6210300" y="1833880"/>
          <a:ext cx="3733800" cy="276352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1610883360"/>
                    </a:ext>
                  </a:extLst>
                </a:gridCol>
                <a:gridCol w="2286000">
                  <a:extLst>
                    <a:ext uri="{9D8B030D-6E8A-4147-A177-3AD203B41FA5}">
                      <a16:colId xmlns:a16="http://schemas.microsoft.com/office/drawing/2014/main" val="4138714432"/>
                    </a:ext>
                  </a:extLst>
                </a:gridCol>
              </a:tblGrid>
              <a:tr h="370840">
                <a:tc>
                  <a:txBody>
                    <a:bodyPr/>
                    <a:lstStyle/>
                    <a:p>
                      <a:r>
                        <a:rPr lang="en-IN" dirty="0"/>
                        <a:t>Component</a:t>
                      </a:r>
                    </a:p>
                  </a:txBody>
                  <a:tcPr>
                    <a:solidFill>
                      <a:schemeClr val="tx1"/>
                    </a:solidFill>
                  </a:tcPr>
                </a:tc>
                <a:tc>
                  <a:txBody>
                    <a:bodyPr/>
                    <a:lstStyle/>
                    <a:p>
                      <a:r>
                        <a:rPr lang="en-IN" dirty="0"/>
                        <a:t>Purpose</a:t>
                      </a:r>
                    </a:p>
                  </a:txBody>
                  <a:tcPr>
                    <a:solidFill>
                      <a:schemeClr val="tx1"/>
                    </a:solidFill>
                  </a:tcPr>
                </a:tc>
                <a:extLst>
                  <a:ext uri="{0D108BD9-81ED-4DB2-BD59-A6C34878D82A}">
                    <a16:rowId xmlns:a16="http://schemas.microsoft.com/office/drawing/2014/main" val="1747200867"/>
                  </a:ext>
                </a:extLst>
              </a:tr>
              <a:tr h="370840">
                <a:tc>
                  <a:txBody>
                    <a:bodyPr/>
                    <a:lstStyle/>
                    <a:p>
                      <a:r>
                        <a:rPr lang="en-IN" dirty="0"/>
                        <a:t>ESP 32</a:t>
                      </a:r>
                    </a:p>
                  </a:txBody>
                  <a:tcPr>
                    <a:solidFill>
                      <a:schemeClr val="bg1">
                        <a:lumMod val="85000"/>
                      </a:schemeClr>
                    </a:solidFill>
                  </a:tcPr>
                </a:tc>
                <a:tc>
                  <a:txBody>
                    <a:bodyPr/>
                    <a:lstStyle/>
                    <a:p>
                      <a:r>
                        <a:rPr lang="en-IN" dirty="0"/>
                        <a:t>Main Microcontroller</a:t>
                      </a:r>
                    </a:p>
                  </a:txBody>
                  <a:tcPr>
                    <a:solidFill>
                      <a:schemeClr val="bg1">
                        <a:lumMod val="85000"/>
                      </a:schemeClr>
                    </a:solidFill>
                  </a:tcPr>
                </a:tc>
                <a:extLst>
                  <a:ext uri="{0D108BD9-81ED-4DB2-BD59-A6C34878D82A}">
                    <a16:rowId xmlns:a16="http://schemas.microsoft.com/office/drawing/2014/main" val="39187936"/>
                  </a:ext>
                </a:extLst>
              </a:tr>
              <a:tr h="370840">
                <a:tc>
                  <a:txBody>
                    <a:bodyPr/>
                    <a:lstStyle/>
                    <a:p>
                      <a:r>
                        <a:rPr lang="en-IN" dirty="0"/>
                        <a:t>MPU 6050</a:t>
                      </a:r>
                    </a:p>
                  </a:txBody>
                  <a:tcPr>
                    <a:solidFill>
                      <a:schemeClr val="bg1">
                        <a:lumMod val="85000"/>
                      </a:schemeClr>
                    </a:solidFill>
                  </a:tcPr>
                </a:tc>
                <a:tc>
                  <a:txBody>
                    <a:bodyPr/>
                    <a:lstStyle/>
                    <a:p>
                      <a:r>
                        <a:rPr lang="en-IN" dirty="0"/>
                        <a:t>Detects orientation</a:t>
                      </a:r>
                    </a:p>
                  </a:txBody>
                  <a:tcPr>
                    <a:solidFill>
                      <a:schemeClr val="bg1">
                        <a:lumMod val="85000"/>
                      </a:schemeClr>
                    </a:solidFill>
                  </a:tcPr>
                </a:tc>
                <a:extLst>
                  <a:ext uri="{0D108BD9-81ED-4DB2-BD59-A6C34878D82A}">
                    <a16:rowId xmlns:a16="http://schemas.microsoft.com/office/drawing/2014/main" val="3748569419"/>
                  </a:ext>
                </a:extLst>
              </a:tr>
              <a:tr h="370840">
                <a:tc>
                  <a:txBody>
                    <a:bodyPr/>
                    <a:lstStyle/>
                    <a:p>
                      <a:r>
                        <a:rPr lang="en-IN" dirty="0"/>
                        <a:t>DHT 11</a:t>
                      </a:r>
                    </a:p>
                  </a:txBody>
                  <a:tcPr>
                    <a:solidFill>
                      <a:schemeClr val="bg1">
                        <a:lumMod val="85000"/>
                      </a:schemeClr>
                    </a:solidFill>
                  </a:tcPr>
                </a:tc>
                <a:tc>
                  <a:txBody>
                    <a:bodyPr/>
                    <a:lstStyle/>
                    <a:p>
                      <a:r>
                        <a:rPr lang="en-IN" dirty="0"/>
                        <a:t>Monitors Temperature and Humidity</a:t>
                      </a:r>
                    </a:p>
                  </a:txBody>
                  <a:tcPr>
                    <a:solidFill>
                      <a:schemeClr val="bg1">
                        <a:lumMod val="85000"/>
                      </a:schemeClr>
                    </a:solidFill>
                  </a:tcPr>
                </a:tc>
                <a:extLst>
                  <a:ext uri="{0D108BD9-81ED-4DB2-BD59-A6C34878D82A}">
                    <a16:rowId xmlns:a16="http://schemas.microsoft.com/office/drawing/2014/main" val="888878150"/>
                  </a:ext>
                </a:extLst>
              </a:tr>
              <a:tr h="370840">
                <a:tc>
                  <a:txBody>
                    <a:bodyPr/>
                    <a:lstStyle/>
                    <a:p>
                      <a:r>
                        <a:rPr lang="en-IN" dirty="0"/>
                        <a:t>INMP441</a:t>
                      </a:r>
                    </a:p>
                  </a:txBody>
                  <a:tcPr>
                    <a:solidFill>
                      <a:schemeClr val="bg1">
                        <a:lumMod val="85000"/>
                      </a:schemeClr>
                    </a:solidFill>
                  </a:tcPr>
                </a:tc>
                <a:tc>
                  <a:txBody>
                    <a:bodyPr/>
                    <a:lstStyle/>
                    <a:p>
                      <a:r>
                        <a:rPr lang="en-IN" dirty="0"/>
                        <a:t>Monitors Audio signal</a:t>
                      </a:r>
                    </a:p>
                  </a:txBody>
                  <a:tcPr>
                    <a:solidFill>
                      <a:schemeClr val="bg1">
                        <a:lumMod val="85000"/>
                      </a:schemeClr>
                    </a:solidFill>
                  </a:tcPr>
                </a:tc>
                <a:extLst>
                  <a:ext uri="{0D108BD9-81ED-4DB2-BD59-A6C34878D82A}">
                    <a16:rowId xmlns:a16="http://schemas.microsoft.com/office/drawing/2014/main" val="610748766"/>
                  </a:ext>
                </a:extLst>
              </a:tr>
              <a:tr h="370840">
                <a:tc>
                  <a:txBody>
                    <a:bodyPr/>
                    <a:lstStyle/>
                    <a:p>
                      <a:r>
                        <a:rPr lang="en-IN" dirty="0"/>
                        <a:t>Buzzer/LED</a:t>
                      </a:r>
                    </a:p>
                  </a:txBody>
                  <a:tcPr>
                    <a:solidFill>
                      <a:schemeClr val="bg1">
                        <a:lumMod val="85000"/>
                      </a:schemeClr>
                    </a:solidFill>
                  </a:tcPr>
                </a:tc>
                <a:tc>
                  <a:txBody>
                    <a:bodyPr/>
                    <a:lstStyle/>
                    <a:p>
                      <a:r>
                        <a:rPr lang="en-IN" dirty="0"/>
                        <a:t>Alert for Local feedback</a:t>
                      </a:r>
                    </a:p>
                  </a:txBody>
                  <a:tcPr>
                    <a:solidFill>
                      <a:schemeClr val="bg1">
                        <a:lumMod val="85000"/>
                      </a:schemeClr>
                    </a:solidFill>
                  </a:tcPr>
                </a:tc>
                <a:extLst>
                  <a:ext uri="{0D108BD9-81ED-4DB2-BD59-A6C34878D82A}">
                    <a16:rowId xmlns:a16="http://schemas.microsoft.com/office/drawing/2014/main" val="483513427"/>
                  </a:ext>
                </a:extLst>
              </a:tr>
            </a:tbl>
          </a:graphicData>
        </a:graphic>
      </p:graphicFrame>
      <p:sp>
        <p:nvSpPr>
          <p:cNvPr id="13" name="TextBox 12">
            <a:extLst>
              <a:ext uri="{FF2B5EF4-FFF2-40B4-BE49-F238E27FC236}">
                <a16:creationId xmlns:a16="http://schemas.microsoft.com/office/drawing/2014/main" id="{7EC8960C-717F-9D00-58E2-943004BC09F8}"/>
              </a:ext>
            </a:extLst>
          </p:cNvPr>
          <p:cNvSpPr txBox="1"/>
          <p:nvPr/>
        </p:nvSpPr>
        <p:spPr>
          <a:xfrm>
            <a:off x="6134100" y="1445595"/>
            <a:ext cx="1402948" cy="369332"/>
          </a:xfrm>
          <a:prstGeom prst="rect">
            <a:avLst/>
          </a:prstGeom>
          <a:noFill/>
        </p:spPr>
        <p:txBody>
          <a:bodyPr wrap="none" rtlCol="0">
            <a:spAutoFit/>
          </a:bodyPr>
          <a:lstStyle/>
          <a:p>
            <a:r>
              <a:rPr lang="en-IN" b="1" dirty="0">
                <a:latin typeface="Garet" panose="020B0604020202020204" charset="0"/>
              </a:rPr>
              <a:t>Hardware</a:t>
            </a:r>
          </a:p>
        </p:txBody>
      </p:sp>
      <p:sp>
        <p:nvSpPr>
          <p:cNvPr id="14" name="TextBox 13">
            <a:extLst>
              <a:ext uri="{FF2B5EF4-FFF2-40B4-BE49-F238E27FC236}">
                <a16:creationId xmlns:a16="http://schemas.microsoft.com/office/drawing/2014/main" id="{4DC75C16-7E81-5B3D-FFFB-66C9C059B81B}"/>
              </a:ext>
            </a:extLst>
          </p:cNvPr>
          <p:cNvSpPr txBox="1"/>
          <p:nvPr/>
        </p:nvSpPr>
        <p:spPr>
          <a:xfrm>
            <a:off x="419100" y="1445595"/>
            <a:ext cx="5486400" cy="1877437"/>
          </a:xfrm>
          <a:prstGeom prst="rect">
            <a:avLst/>
          </a:prstGeom>
          <a:noFill/>
        </p:spPr>
        <p:txBody>
          <a:bodyPr wrap="square" rtlCol="0">
            <a:spAutoFit/>
          </a:bodyPr>
          <a:lstStyle/>
          <a:p>
            <a:r>
              <a:rPr lang="en-IN" b="1" dirty="0">
                <a:latin typeface="Garet" panose="020B0604020202020204" charset="0"/>
              </a:rPr>
              <a:t>Software</a:t>
            </a:r>
          </a:p>
          <a:p>
            <a:pPr marL="285750" indent="-285750">
              <a:buFont typeface="Arial" panose="020B0604020202020204" pitchFamily="34" charset="0"/>
              <a:buChar char="•"/>
            </a:pPr>
            <a:r>
              <a:rPr lang="en-IN" sz="1600" b="1" dirty="0">
                <a:latin typeface="Garet" panose="020B0604020202020204" charset="0"/>
              </a:rPr>
              <a:t>AI Model</a:t>
            </a:r>
            <a:r>
              <a:rPr lang="en-IN" sz="1600" dirty="0">
                <a:latin typeface="Garet" panose="020B0604020202020204" charset="0"/>
              </a:rPr>
              <a:t>: TF lite model trained and deployed using Edge Impulse</a:t>
            </a:r>
          </a:p>
          <a:p>
            <a:pPr marL="285750" indent="-285750">
              <a:buFont typeface="Arial" panose="020B0604020202020204" pitchFamily="34" charset="0"/>
              <a:buChar char="•"/>
            </a:pPr>
            <a:r>
              <a:rPr lang="en-IN" sz="1600" b="1" dirty="0">
                <a:latin typeface="Garet" panose="020B0604020202020204" charset="0"/>
              </a:rPr>
              <a:t>Frontend: </a:t>
            </a:r>
            <a:r>
              <a:rPr lang="en-IN" sz="1600" dirty="0">
                <a:latin typeface="Garet" panose="020B0604020202020204" charset="0"/>
              </a:rPr>
              <a:t>React (UI Development in progress)</a:t>
            </a:r>
          </a:p>
          <a:p>
            <a:pPr marL="285750" indent="-285750">
              <a:buFont typeface="Arial" panose="020B0604020202020204" pitchFamily="34" charset="0"/>
              <a:buChar char="•"/>
            </a:pPr>
            <a:r>
              <a:rPr lang="en-IN" sz="1600" b="1" dirty="0">
                <a:latin typeface="Garet" panose="020B0604020202020204" charset="0"/>
              </a:rPr>
              <a:t>Backend:</a:t>
            </a:r>
            <a:r>
              <a:rPr lang="en-IN" sz="1600" dirty="0">
                <a:latin typeface="Garet" panose="020B0604020202020204" charset="0"/>
              </a:rPr>
              <a:t> Firebase for hosting backend and database</a:t>
            </a:r>
          </a:p>
          <a:p>
            <a:endParaRPr lang="en-IN" dirty="0">
              <a:latin typeface="Garet"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sp>
      </p:grpSp>
      <p:sp>
        <p:nvSpPr>
          <p:cNvPr id="11" name="TextBox 11"/>
          <p:cNvSpPr txBox="1"/>
          <p:nvPr/>
        </p:nvSpPr>
        <p:spPr>
          <a:xfrm>
            <a:off x="539115" y="973283"/>
            <a:ext cx="8301178" cy="789606"/>
          </a:xfrm>
          <a:prstGeom prst="rect">
            <a:avLst/>
          </a:prstGeom>
        </p:spPr>
        <p:txBody>
          <a:bodyPr lIns="0" tIns="0" rIns="0" bIns="0" rtlCol="0" anchor="t">
            <a:spAutoFit/>
          </a:bodyPr>
          <a:lstStyle/>
          <a:p>
            <a:pPr algn="l">
              <a:lnSpc>
                <a:spcPts val="3203"/>
              </a:lnSpc>
            </a:pPr>
            <a:r>
              <a:rPr lang="en-US" sz="2288">
                <a:solidFill>
                  <a:srgbClr val="000000"/>
                </a:solidFill>
                <a:latin typeface="Garet"/>
                <a:ea typeface="Garet"/>
                <a:cs typeface="Garet"/>
                <a:sym typeface="Garet"/>
              </a:rPr>
              <a:t>Architecture diagram of the proposed solution</a:t>
            </a:r>
          </a:p>
          <a:p>
            <a:pPr algn="l">
              <a:lnSpc>
                <a:spcPts val="3203"/>
              </a:lnSpc>
            </a:pPr>
            <a:endParaRPr lang="en-US" sz="2288">
              <a:solidFill>
                <a:srgbClr val="000000"/>
              </a:solidFill>
              <a:latin typeface="Garet"/>
              <a:ea typeface="Garet"/>
              <a:cs typeface="Garet"/>
              <a:sym typeface="Garet"/>
            </a:endParaRPr>
          </a:p>
        </p:txBody>
      </p:sp>
      <p:pic>
        <p:nvPicPr>
          <p:cNvPr id="14" name="Picture 13">
            <a:extLst>
              <a:ext uri="{FF2B5EF4-FFF2-40B4-BE49-F238E27FC236}">
                <a16:creationId xmlns:a16="http://schemas.microsoft.com/office/drawing/2014/main" id="{9C43A5A2-13F6-3B74-01A8-30CC9AA558B5}"/>
              </a:ext>
            </a:extLst>
          </p:cNvPr>
          <p:cNvPicPr>
            <a:picLocks noChangeAspect="1"/>
          </p:cNvPicPr>
          <p:nvPr/>
        </p:nvPicPr>
        <p:blipFill>
          <a:blip r:embed="rId4">
            <a:extLst>
              <a:ext uri="{28A0092B-C50C-407E-A947-70E740481C1C}">
                <a14:useLocalDpi xmlns:a14="http://schemas.microsoft.com/office/drawing/2010/main" val="0"/>
              </a:ext>
            </a:extLst>
          </a:blip>
          <a:srcRect l="1257" t="1887" b="11791"/>
          <a:stretch>
            <a:fillRect/>
          </a:stretch>
        </p:blipFill>
        <p:spPr>
          <a:xfrm>
            <a:off x="1638300" y="1397000"/>
            <a:ext cx="6629400" cy="34573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769124"/>
            <a:ext cx="10287000" cy="622026"/>
            <a:chOff x="0" y="0"/>
            <a:chExt cx="5169753" cy="312600"/>
          </a:xfrm>
        </p:grpSpPr>
        <p:sp>
          <p:nvSpPr>
            <p:cNvPr id="3" name="Freeform 3"/>
            <p:cNvSpPr/>
            <p:nvPr/>
          </p:nvSpPr>
          <p:spPr>
            <a:xfrm>
              <a:off x="0" y="0"/>
              <a:ext cx="5169753" cy="312600"/>
            </a:xfrm>
            <a:custGeom>
              <a:avLst/>
              <a:gdLst/>
              <a:ahLst/>
              <a:cxnLst/>
              <a:rect l="l" t="t" r="r" b="b"/>
              <a:pathLst>
                <a:path w="5169753" h="312600">
                  <a:moveTo>
                    <a:pt x="0" y="0"/>
                  </a:moveTo>
                  <a:lnTo>
                    <a:pt x="5169753" y="0"/>
                  </a:lnTo>
                  <a:lnTo>
                    <a:pt x="5169753" y="312600"/>
                  </a:lnTo>
                  <a:lnTo>
                    <a:pt x="0" y="312600"/>
                  </a:lnTo>
                  <a:close/>
                </a:path>
              </a:pathLst>
            </a:custGeom>
            <a:solidFill>
              <a:srgbClr val="000000"/>
            </a:solidFill>
          </p:spPr>
        </p:sp>
        <p:sp>
          <p:nvSpPr>
            <p:cNvPr id="4" name="TextBox 4"/>
            <p:cNvSpPr txBox="1"/>
            <p:nvPr/>
          </p:nvSpPr>
          <p:spPr>
            <a:xfrm>
              <a:off x="0" y="-19050"/>
              <a:ext cx="5169753" cy="331650"/>
            </a:xfrm>
            <a:prstGeom prst="rect">
              <a:avLst/>
            </a:prstGeom>
          </p:spPr>
          <p:txBody>
            <a:bodyPr lIns="50800" tIns="50800" rIns="50800" bIns="50800" rtlCol="0" anchor="ctr"/>
            <a:lstStyle/>
            <a:p>
              <a:pPr algn="ctr">
                <a:lnSpc>
                  <a:spcPts val="1399"/>
                </a:lnSpc>
                <a:spcBef>
                  <a:spcPct val="0"/>
                </a:spcBef>
              </a:pPr>
              <a:endParaRPr/>
            </a:p>
          </p:txBody>
        </p:sp>
      </p:grpSp>
      <p:sp>
        <p:nvSpPr>
          <p:cNvPr id="5" name="TextBox 5"/>
          <p:cNvSpPr txBox="1"/>
          <p:nvPr/>
        </p:nvSpPr>
        <p:spPr>
          <a:xfrm>
            <a:off x="197256" y="1886850"/>
            <a:ext cx="10039850" cy="1144276"/>
          </a:xfrm>
          <a:prstGeom prst="rect">
            <a:avLst/>
          </a:prstGeom>
        </p:spPr>
        <p:txBody>
          <a:bodyPr lIns="0" tIns="0" rIns="0" bIns="0" rtlCol="0" anchor="t">
            <a:spAutoFit/>
          </a:bodyPr>
          <a:lstStyle/>
          <a:p>
            <a:pPr algn="ctr">
              <a:lnSpc>
                <a:spcPts val="7377"/>
              </a:lnSpc>
            </a:pPr>
            <a:r>
              <a:rPr lang="en-US" sz="11527" b="1">
                <a:solidFill>
                  <a:srgbClr val="000000"/>
                </a:solidFill>
                <a:latin typeface="Montserrat Bold"/>
                <a:ea typeface="Montserrat Bold"/>
                <a:cs typeface="Montserrat Bold"/>
                <a:sym typeface="Montserrat Bold"/>
              </a:rPr>
              <a:t>Thank You!</a:t>
            </a:r>
          </a:p>
        </p:txBody>
      </p:sp>
      <p:sp>
        <p:nvSpPr>
          <p:cNvPr id="6" name="TextBox 6"/>
          <p:cNvSpPr txBox="1"/>
          <p:nvPr/>
        </p:nvSpPr>
        <p:spPr>
          <a:xfrm>
            <a:off x="3176808" y="3273745"/>
            <a:ext cx="3933379" cy="641714"/>
          </a:xfrm>
          <a:prstGeom prst="rect">
            <a:avLst/>
          </a:prstGeom>
        </p:spPr>
        <p:txBody>
          <a:bodyPr wrap="square" lIns="0" tIns="0" rIns="0" bIns="0" rtlCol="0" anchor="t">
            <a:spAutoFit/>
          </a:bodyPr>
          <a:lstStyle/>
          <a:p>
            <a:pPr algn="ctr">
              <a:lnSpc>
                <a:spcPts val="5151"/>
              </a:lnSpc>
            </a:pPr>
            <a:r>
              <a:rPr lang="en-US" sz="3679" dirty="0">
                <a:solidFill>
                  <a:srgbClr val="000000"/>
                </a:solidFill>
                <a:latin typeface="Garet"/>
                <a:ea typeface="Garet"/>
                <a:cs typeface="Garet"/>
                <a:sym typeface="Garet"/>
              </a:rPr>
              <a:t>ESP Rockers</a:t>
            </a:r>
          </a:p>
        </p:txBody>
      </p:sp>
      <p:sp>
        <p:nvSpPr>
          <p:cNvPr id="7" name="TextBox 7"/>
          <p:cNvSpPr txBox="1"/>
          <p:nvPr/>
        </p:nvSpPr>
        <p:spPr>
          <a:xfrm>
            <a:off x="3611602" y="3955952"/>
            <a:ext cx="3063793" cy="532646"/>
          </a:xfrm>
          <a:prstGeom prst="rect">
            <a:avLst/>
          </a:prstGeom>
        </p:spPr>
        <p:txBody>
          <a:bodyPr wrap="square" lIns="0" tIns="0" rIns="0" bIns="0" rtlCol="0" anchor="t">
            <a:spAutoFit/>
          </a:bodyPr>
          <a:lstStyle/>
          <a:p>
            <a:pPr algn="ctr">
              <a:lnSpc>
                <a:spcPts val="4332"/>
              </a:lnSpc>
            </a:pPr>
            <a:r>
              <a:rPr lang="en-US" sz="3094" b="1" dirty="0" err="1">
                <a:solidFill>
                  <a:srgbClr val="000000"/>
                </a:solidFill>
                <a:latin typeface="Garet Bold"/>
                <a:ea typeface="Garet Bold"/>
                <a:cs typeface="Garet Bold"/>
                <a:sym typeface="Garet Bold"/>
              </a:rPr>
              <a:t>AIoT</a:t>
            </a:r>
            <a:r>
              <a:rPr lang="en-US" sz="3094" b="1" dirty="0">
                <a:solidFill>
                  <a:srgbClr val="000000"/>
                </a:solidFill>
                <a:latin typeface="Garet Bold"/>
                <a:ea typeface="Garet Bold"/>
                <a:cs typeface="Garet Bold"/>
                <a:sym typeface="Garet Bold"/>
              </a:rPr>
              <a:t> (AI + IoT)</a:t>
            </a:r>
          </a:p>
        </p:txBody>
      </p:sp>
      <p:grpSp>
        <p:nvGrpSpPr>
          <p:cNvPr id="8" name="Group 8"/>
          <p:cNvGrpSpPr/>
          <p:nvPr/>
        </p:nvGrpSpPr>
        <p:grpSpPr>
          <a:xfrm>
            <a:off x="0" y="-14327"/>
            <a:ext cx="10287000" cy="1291577"/>
            <a:chOff x="0" y="0"/>
            <a:chExt cx="5169753" cy="649085"/>
          </a:xfrm>
        </p:grpSpPr>
        <p:sp>
          <p:nvSpPr>
            <p:cNvPr id="9" name="Freeform 9"/>
            <p:cNvSpPr/>
            <p:nvPr/>
          </p:nvSpPr>
          <p:spPr>
            <a:xfrm>
              <a:off x="0" y="0"/>
              <a:ext cx="5169753" cy="649085"/>
            </a:xfrm>
            <a:custGeom>
              <a:avLst/>
              <a:gdLst/>
              <a:ahLst/>
              <a:cxnLst/>
              <a:rect l="l" t="t" r="r" b="b"/>
              <a:pathLst>
                <a:path w="5169753" h="649085">
                  <a:moveTo>
                    <a:pt x="0" y="0"/>
                  </a:moveTo>
                  <a:lnTo>
                    <a:pt x="5169753" y="0"/>
                  </a:lnTo>
                  <a:lnTo>
                    <a:pt x="5169753" y="649085"/>
                  </a:lnTo>
                  <a:lnTo>
                    <a:pt x="0" y="649085"/>
                  </a:lnTo>
                  <a:close/>
                </a:path>
              </a:pathLst>
            </a:custGeom>
            <a:solidFill>
              <a:srgbClr val="000000"/>
            </a:solidFill>
          </p:spPr>
        </p:sp>
        <p:sp>
          <p:nvSpPr>
            <p:cNvPr id="10" name="TextBox 10"/>
            <p:cNvSpPr txBox="1"/>
            <p:nvPr/>
          </p:nvSpPr>
          <p:spPr>
            <a:xfrm>
              <a:off x="0" y="-19050"/>
              <a:ext cx="5169753" cy="668135"/>
            </a:xfrm>
            <a:prstGeom prst="rect">
              <a:avLst/>
            </a:prstGeom>
          </p:spPr>
          <p:txBody>
            <a:bodyPr lIns="50800" tIns="50800" rIns="50800" bIns="50800" rtlCol="0" anchor="ctr"/>
            <a:lstStyle/>
            <a:p>
              <a:pPr algn="ctr">
                <a:lnSpc>
                  <a:spcPts val="1399"/>
                </a:lnSpc>
                <a:spcBef>
                  <a:spcPct val="0"/>
                </a:spcBef>
              </a:pPr>
              <a:endParaRPr/>
            </a:p>
          </p:txBody>
        </p:sp>
      </p:grpSp>
      <p:grpSp>
        <p:nvGrpSpPr>
          <p:cNvPr id="11" name="Group 11"/>
          <p:cNvGrpSpPr/>
          <p:nvPr/>
        </p:nvGrpSpPr>
        <p:grpSpPr>
          <a:xfrm>
            <a:off x="3542524" y="191852"/>
            <a:ext cx="3349313" cy="879220"/>
            <a:chOff x="0" y="0"/>
            <a:chExt cx="4465751" cy="1172293"/>
          </a:xfrm>
        </p:grpSpPr>
        <p:sp>
          <p:nvSpPr>
            <p:cNvPr id="12" name="Freeform 12"/>
            <p:cNvSpPr/>
            <p:nvPr/>
          </p:nvSpPr>
          <p:spPr>
            <a:xfrm>
              <a:off x="0" y="0"/>
              <a:ext cx="1072166" cy="1172293"/>
            </a:xfrm>
            <a:custGeom>
              <a:avLst/>
              <a:gdLst/>
              <a:ahLst/>
              <a:cxnLst/>
              <a:rect l="l" t="t" r="r" b="b"/>
              <a:pathLst>
                <a:path w="1072166" h="1172293">
                  <a:moveTo>
                    <a:pt x="0" y="0"/>
                  </a:moveTo>
                  <a:lnTo>
                    <a:pt x="1072166" y="0"/>
                  </a:lnTo>
                  <a:lnTo>
                    <a:pt x="1072166" y="1172293"/>
                  </a:lnTo>
                  <a:lnTo>
                    <a:pt x="0" y="1172293"/>
                  </a:lnTo>
                  <a:lnTo>
                    <a:pt x="0" y="0"/>
                  </a:lnTo>
                  <a:close/>
                </a:path>
              </a:pathLst>
            </a:custGeom>
            <a:blipFill>
              <a:blip r:embed="rId2"/>
              <a:stretch>
                <a:fillRect r="-9338"/>
              </a:stretch>
            </a:blipFill>
          </p:spPr>
        </p:sp>
        <p:sp>
          <p:nvSpPr>
            <p:cNvPr id="13" name="Freeform 13"/>
            <p:cNvSpPr/>
            <p:nvPr/>
          </p:nvSpPr>
          <p:spPr>
            <a:xfrm>
              <a:off x="1209333" y="0"/>
              <a:ext cx="3256418" cy="1146504"/>
            </a:xfrm>
            <a:custGeom>
              <a:avLst/>
              <a:gdLst/>
              <a:ahLst/>
              <a:cxnLst/>
              <a:rect l="l" t="t" r="r" b="b"/>
              <a:pathLst>
                <a:path w="3256418" h="1146504">
                  <a:moveTo>
                    <a:pt x="0" y="0"/>
                  </a:moveTo>
                  <a:lnTo>
                    <a:pt x="3256418" y="0"/>
                  </a:lnTo>
                  <a:lnTo>
                    <a:pt x="3256418" y="1146504"/>
                  </a:lnTo>
                  <a:lnTo>
                    <a:pt x="0" y="1146504"/>
                  </a:lnTo>
                  <a:lnTo>
                    <a:pt x="0" y="0"/>
                  </a:lnTo>
                  <a:close/>
                </a:path>
              </a:pathLst>
            </a:custGeom>
            <a:blipFill>
              <a:blip r:embed="rId3"/>
              <a:stretch>
                <a:fillRect l="-549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391</Words>
  <Application>Microsoft Office PowerPoint</Application>
  <PresentationFormat>Custom</PresentationFormat>
  <Paragraphs>43</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Montserrat</vt:lpstr>
      <vt:lpstr>Calibri</vt:lpstr>
      <vt:lpstr>Montserrat Bold</vt:lpstr>
      <vt:lpstr>Garet</vt:lpstr>
      <vt:lpstr>Arial</vt:lpstr>
      <vt:lpstr>League Spartan</vt:lpstr>
      <vt:lpstr>Garet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AI-Verse PPT Template</dc:title>
  <dc:creator>MADHAVH SRK</dc:creator>
  <cp:lastModifiedBy>Charan sri</cp:lastModifiedBy>
  <cp:revision>8</cp:revision>
  <dcterms:created xsi:type="dcterms:W3CDTF">2006-08-16T00:00:00Z</dcterms:created>
  <dcterms:modified xsi:type="dcterms:W3CDTF">2025-12-31T12:43:13Z</dcterms:modified>
  <dc:identifier>DAG79ArSZVM</dc:identifier>
</cp:coreProperties>
</file>